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Recovery rate</c:v>
                </c:pt>
              </c:strCache>
            </c:strRef>
          </c:tx>
          <c:spPr>
            <a:solidFill>
              <a:srgbClr val="6C5CE7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C7CCE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C5CE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C5CE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C5CE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C5CE7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6C5CE7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D9483B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Claimed already paid</c:v>
                  </c:pt>
                  <c:pt idx="1">
                    <c:v>Disposition: Paid</c:v>
                  </c:pt>
                  <c:pt idx="2">
                    <c:v>Qualified lead</c:v>
                  </c:pt>
                  <c:pt idx="3">
                    <c:v>Talked 2+ minutes</c:v>
                  </c:pt>
                  <c:pt idx="4">
                    <c:v>Connected on a call</c:v>
                  </c:pt>
                  <c:pt idx="5">
                    <c:v>Promised to pay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89.9</c:v>
                </c:pt>
                <c:pt idx="1">
                  <c:v>77.9</c:v>
                </c:pt>
                <c:pt idx="2">
                  <c:v>68.1</c:v>
                </c:pt>
                <c:pt idx="3">
                  <c:v>61.3</c:v>
                </c:pt>
                <c:pt idx="4">
                  <c:v>53.4</c:v>
                </c:pt>
                <c:pt idx="5">
                  <c:v>25.5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C7CCE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C7CCE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b"/>
        <c:majorGridlines>
          <c:spPr>
            <a:ln w="6350" cap="flat">
              <a:solidFill>
                <a:srgbClr val="232E5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E779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1226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RoshRegression</c:v>
                </c:pt>
              </c:strCache>
            </c:strRef>
          </c:tx>
          <c:spPr>
            <a:solidFill>
              <a:srgbClr val="6C5CE7"/>
            </a:solidFill>
            <a:ln w="31750" cap="flat">
              <a:solidFill>
                <a:srgbClr val="6C5CE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6C5CE7"/>
              </a:solidFill>
              <a:ln w="9525" cap="flat">
                <a:solidFill>
                  <a:srgbClr val="6C5CE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72.9</c:v>
                </c:pt>
                <c:pt idx="1">
                  <c:v>74.5</c:v>
                </c:pt>
                <c:pt idx="2">
                  <c:v>70.6</c:v>
                </c:pt>
                <c:pt idx="3">
                  <c:v>73.3</c:v>
                </c:pt>
                <c:pt idx="4">
                  <c:v>73.6</c:v>
                </c:pt>
                <c:pt idx="5">
                  <c:v>74.1</c:v>
                </c:pt>
                <c:pt idx="6">
                  <c:v>74</c:v>
                </c:pt>
                <c:pt idx="7">
                  <c:v>74.3</c:v>
                </c:pt>
                <c:pt idx="8">
                  <c:v>71.1</c:v>
                </c:pt>
                <c:pt idx="9">
                  <c:v>70.9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Current playbook (chase the promises)</c:v>
                </c:pt>
              </c:strCache>
            </c:strRef>
          </c:tx>
          <c:spPr>
            <a:solidFill>
              <a:srgbClr val="8B92A6"/>
            </a:solidFill>
            <a:ln w="31750" cap="flat">
              <a:solidFill>
                <a:srgbClr val="8B92A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8B92A6"/>
              </a:solidFill>
              <a:ln w="9525" cap="flat">
                <a:solidFill>
                  <a:srgbClr val="8B92A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48.9</c:v>
                </c:pt>
                <c:pt idx="1">
                  <c:v>50.7</c:v>
                </c:pt>
                <c:pt idx="2">
                  <c:v>52.4</c:v>
                </c:pt>
                <c:pt idx="3">
                  <c:v>49.2</c:v>
                </c:pt>
                <c:pt idx="4">
                  <c:v>52.1</c:v>
                </c:pt>
                <c:pt idx="5">
                  <c:v>51</c:v>
                </c:pt>
                <c:pt idx="6">
                  <c:v>51.2</c:v>
                </c:pt>
                <c:pt idx="7">
                  <c:v>50.6</c:v>
                </c:pt>
                <c:pt idx="8">
                  <c:v>52.5</c:v>
                </c:pt>
                <c:pt idx="9">
                  <c:v>50.9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07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5"/>
          <c:min val="40"/>
        </c:scaling>
        <c:delete val="0"/>
        <c:axPos val="l"/>
        <c:majorGridlines>
          <c:spPr>
            <a:ln w="6350" cap="flat">
              <a:solidFill>
                <a:srgbClr val="E4E7EF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B92A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A6076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line, one number, one name. Do not open with the dashboard. Open with the fact that we now own a piece of decision infrastructure — and that it has a name.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soften this. The COO already knows we are commoditised; naming it buys credibility for everything after.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that wins the room. It is counter-intuitive, it is from THEIR data, and any RBL analyst can verify it in the account table in 30 seconds. Silence after "the least likely to pay."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Anticipate the question before it is asked: "why not an LLM?" Answer it on the next slide with data, not opinion.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oversell. Say plainly: it did not beat the LLM. It tied. Then explain why tying is the strongest possible result for a regulated buyer.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FOOTNOTE OUT LOUD. If anyone repeats a synthetic rupee number to RBL we lose the account. The stability claim is what is real and it is what matters.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that survives due diligence. Anyone can win on a good 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2.25x is the operational number. Accuracy is for their risk team; this is for their collections head.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for the COO specifically. Everything before it was evidence; this is the thesis.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Counter-intuitive but true: this slide is why they will trust slide 6. Do not cut it to save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on the reframe, not on a thank-you slide. Let it sit.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212848"/>
            <a:ext cx="146304" cy="146304"/>
          </a:xfrm>
          <a:prstGeom prst="ellipse">
            <a:avLst/>
          </a:prstGeom>
          <a:solidFill>
            <a:srgbClr val="6C5C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423160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RoshRegression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85800" y="352044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B9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that decides which of RBL’s ₹8.69 Cr gets called first.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85800" y="5394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60" kern="0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briefing  ·  Convin leadership  ·  RBL Bank renewal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ARE HAVING THIS MEETING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2296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0B1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voice agent is a feature.</a:t>
            </a:r>
            <a:endParaRPr lang="en-US" sz="34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0B1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Everyone is shipping one.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9202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5A6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RBL can swap our dialler for a competitor’s in a quarter. On calls-placed and minutes-talked we are</a:t>
            </a:r>
            <a:endParaRPr lang="en-US" sz="14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5A6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interchangeable — which means the only lever left in the renewal conversation is price.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85800" y="3081528"/>
            <a:ext cx="118872" cy="118872"/>
          </a:xfrm>
          <a:prstGeom prst="ellipse">
            <a:avLst/>
          </a:prstGeom>
          <a:solidFill>
            <a:srgbClr val="D948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8408" y="29718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sell today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886200" y="29718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A6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voice agents that place calls and log dispositions.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75320" y="29718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D94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Replaceable. Benchmarked on price per minute.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85800" y="3995928"/>
            <a:ext cx="118872" cy="118872"/>
          </a:xfrm>
          <a:prstGeom prst="ellipse">
            <a:avLst/>
          </a:prstGeom>
          <a:solidFill>
            <a:srgbClr val="D99A1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38862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RBL actually buys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886200" y="38862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A6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Recovered rupees. They do not care how the call was made.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75320" y="38862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D99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have never shown them a number they could not get elsewhere.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85800" y="4910328"/>
            <a:ext cx="118872" cy="118872"/>
          </a:xfrm>
          <a:prstGeom prst="ellipse">
            <a:avLst/>
          </a:prstGeom>
          <a:solidFill>
            <a:srgbClr val="1E9E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8408" y="48006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now have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886200" y="48006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A6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that tells their floor which accounts to work first.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75320" y="48006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1E9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feature. A decision they cannot make without us.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 IN RBL’S OWN DATA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2296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promise to pay is the worst</a:t>
            </a:r>
            <a:endParaRPr lang="en-US" sz="34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signal on the board.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9659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8B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RBL’s floor — and every collections agency in the country — chases the customers who promised.</a:t>
            </a:r>
            <a:endParaRPr lang="en-US" sz="14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8B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1,908 real accounts, those customers were the least likely to pay.</a:t>
            </a:r>
            <a:endParaRPr lang="en-US" sz="14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85800" y="2880360"/>
          <a:ext cx="685800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863840" y="3063240"/>
            <a:ext cx="3611880" cy="1828800"/>
          </a:xfrm>
          <a:prstGeom prst="roundRect">
            <a:avLst>
              <a:gd name="adj" fmla="val 5000"/>
            </a:avLst>
          </a:prstGeom>
          <a:solidFill>
            <a:srgbClr val="1C1430"/>
          </a:solidFill>
          <a:ln w="12700">
            <a:solidFill>
              <a:srgbClr val="3A2E6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138160" y="32918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4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–18.3 pts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8138160" y="388620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B9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the book’s 43.8% average. 454 accounts promised. Only 26% of them paid.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863840" y="512064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6E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book’s base rate is 43.8%. Bars above it are real signal; the bar below it is a trap.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2296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0B1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RoshRegression, in one slide.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8745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5A6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regularised logistic regression — the same maths a bank’s credit risk team already signs off on —</a:t>
            </a:r>
            <a:endParaRPr lang="en-US" sz="14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5A6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refitted from scratch on every report RBL uploads.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85800" y="274320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F5F6FA"/>
          </a:solidFill>
          <a:ln w="9525">
            <a:solidFill>
              <a:srgbClr val="E4E7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1832" y="3017520"/>
            <a:ext cx="109728" cy="109728"/>
          </a:xfrm>
          <a:prstGeom prst="ellipse">
            <a:avLst/>
          </a:prstGeom>
          <a:solidFill>
            <a:srgbClr val="6C5C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321868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their book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41832" y="3584448"/>
            <a:ext cx="2103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Refit per report. Fourteen inputs, fourteen readable coefficients. No opinions carried over from another bank.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29000" y="274320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F5F6FA"/>
          </a:solidFill>
          <a:ln w="9525">
            <a:solidFill>
              <a:srgbClr val="E4E7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85032" y="3017520"/>
            <a:ext cx="109728" cy="109728"/>
          </a:xfrm>
          <a:prstGeom prst="ellipse">
            <a:avLst/>
          </a:prstGeom>
          <a:solidFill>
            <a:srgbClr val="6C5C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85032" y="321868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leaves the building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685032" y="3584448"/>
            <a:ext cx="2103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API key. No external model. No call to anyone’s cloud. Their cardholder data is scored inside their environment.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200" y="274320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F5F6FA"/>
          </a:solidFill>
          <a:ln w="9525">
            <a:solidFill>
              <a:srgbClr val="E4E7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28232" y="3017520"/>
            <a:ext cx="109728" cy="109728"/>
          </a:xfrm>
          <a:prstGeom prst="ellipse">
            <a:avLst/>
          </a:prstGeom>
          <a:solidFill>
            <a:srgbClr val="6C5C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28232" y="321868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Audit-ready by design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28232" y="3584448"/>
            <a:ext cx="2103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weight inspectable. Their model risk committee can sign it off in an afternoon — not a quarter.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915400" y="274320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F5F6FA"/>
          </a:solidFill>
          <a:ln w="9525">
            <a:solidFill>
              <a:srgbClr val="E4E7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71432" y="3017520"/>
            <a:ext cx="109728" cy="109728"/>
          </a:xfrm>
          <a:prstGeom prst="ellipse">
            <a:avLst/>
          </a:prstGeom>
          <a:solidFill>
            <a:srgbClr val="6C5C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71432" y="321868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nothing to run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9171432" y="3584448"/>
            <a:ext cx="2103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~4ms per batch. A million rows a day at zero marginal cost. It runs inside the ingest we already built.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" y="52578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B1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not an LLM. That is the point — and on the next slide, that turns out not to cost us anything.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EVERYONE ASKS FIRST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2296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“Why not just use an LLM?”</a:t>
            </a:r>
            <a:endParaRPr lang="en-US" sz="34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ran the experiment.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9659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8B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120 held-out accounts. Same question. A frontier model, given every advantage — including prior</a:t>
            </a:r>
            <a:endParaRPr lang="en-US" sz="14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8B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of this book that a cold model would not have.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85800" y="3108960"/>
            <a:ext cx="3200400" cy="1371600"/>
          </a:xfrm>
          <a:prstGeom prst="roundRect">
            <a:avLst>
              <a:gd name="adj" fmla="val 6667"/>
            </a:avLst>
          </a:prstGeom>
          <a:solidFill>
            <a:srgbClr val="1C1430"/>
          </a:solidFill>
          <a:ln w="9525">
            <a:solidFill>
              <a:srgbClr val="1C14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1832" y="3401568"/>
            <a:ext cx="91440" cy="91440"/>
          </a:xfrm>
          <a:prstGeom prst="ellipse">
            <a:avLst/>
          </a:prstGeom>
          <a:solidFill>
            <a:srgbClr val="6C5C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354787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C5C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0.750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941832" y="4023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RoshRegression accuracy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069080" y="3108960"/>
            <a:ext cx="3200400" cy="1371600"/>
          </a:xfrm>
          <a:prstGeom prst="roundRect">
            <a:avLst>
              <a:gd name="adj" fmla="val 6667"/>
            </a:avLst>
          </a:prstGeom>
          <a:solidFill>
            <a:srgbClr val="141B33"/>
          </a:solidFill>
          <a:ln w="9525">
            <a:solidFill>
              <a:srgbClr val="141B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25112" y="3401568"/>
            <a:ext cx="91440" cy="91440"/>
          </a:xfrm>
          <a:prstGeom prst="ellipse">
            <a:avLst/>
          </a:prstGeom>
          <a:solidFill>
            <a:srgbClr val="B9BF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25112" y="354787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9BF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0.742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325112" y="4023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LLM accuracy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452360" y="3108960"/>
            <a:ext cx="3200400" cy="1371600"/>
          </a:xfrm>
          <a:prstGeom prst="roundRect">
            <a:avLst>
              <a:gd name="adj" fmla="val 6667"/>
            </a:avLst>
          </a:prstGeom>
          <a:solidFill>
            <a:srgbClr val="141B33"/>
          </a:solidFill>
          <a:ln w="9525">
            <a:solidFill>
              <a:srgbClr val="141B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08392" y="3401568"/>
            <a:ext cx="91440" cy="91440"/>
          </a:xfrm>
          <a:prstGeom prst="ellipse">
            <a:avLst/>
          </a:prstGeom>
          <a:solidFill>
            <a:srgbClr val="8B92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08392" y="354787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92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= 1.00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708392" y="4023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Statistically indistinguishable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85800" y="4892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tied. And a tie is a win.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85800" y="534924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E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needed an API call per account, a network round-trip, and every RBL cardholder’s financial data leaving the bank — to draw level with sixty lines of maths running on their own hardware for free. Send that sentence to their CISO and the LLM loses on the spot.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2296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0B1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 reports. Ten wins.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8745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5A6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Independently graded by holdout — an open-source eval framework using paired significance tests, not</a:t>
            </a:r>
            <a:endParaRPr lang="en-US" sz="14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5A6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vanity numbers. Every report: fit on 80%, scored on the 20% it had never seen.</a:t>
            </a:r>
            <a:endParaRPr lang="en-US" sz="14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85800" y="2743200"/>
          <a:ext cx="694944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85800" y="5623560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per report — held-out accounts only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909560" y="2743200"/>
            <a:ext cx="1691640" cy="1371600"/>
          </a:xfrm>
          <a:prstGeom prst="roundRect">
            <a:avLst>
              <a:gd name="adj" fmla="val 6667"/>
            </a:avLst>
          </a:prstGeom>
          <a:solidFill>
            <a:srgbClr val="E6F5EF"/>
          </a:solidFill>
          <a:ln w="9525">
            <a:solidFill>
              <a:srgbClr val="E6F5E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165592" y="3035808"/>
            <a:ext cx="91440" cy="91440"/>
          </a:xfrm>
          <a:prstGeom prst="ellipse">
            <a:avLst/>
          </a:prstGeom>
          <a:solidFill>
            <a:srgbClr val="1E9E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165592" y="318211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9E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10/10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8165592" y="36576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won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9784080" y="2743200"/>
            <a:ext cx="1691640" cy="1371600"/>
          </a:xfrm>
          <a:prstGeom prst="roundRect">
            <a:avLst>
              <a:gd name="adj" fmla="val 6667"/>
            </a:avLst>
          </a:prstGeom>
          <a:solidFill>
            <a:srgbClr val="EDEBFD"/>
          </a:solidFill>
          <a:ln w="9525">
            <a:solidFill>
              <a:srgbClr val="EDEBF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040112" y="3035808"/>
            <a:ext cx="91440" cy="91440"/>
          </a:xfrm>
          <a:prstGeom prst="ellipse">
            <a:avLst/>
          </a:prstGeom>
          <a:solidFill>
            <a:srgbClr val="6C5C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040112" y="318211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C5C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+22.0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10040112" y="36576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pts mean edge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909560" y="4251960"/>
            <a:ext cx="1691640" cy="1371600"/>
          </a:xfrm>
          <a:prstGeom prst="roundRect">
            <a:avLst>
              <a:gd name="adj" fmla="val 6667"/>
            </a:avLst>
          </a:prstGeom>
          <a:solidFill>
            <a:srgbClr val="F5F6FA"/>
          </a:solidFill>
          <a:ln w="9525">
            <a:solidFill>
              <a:srgbClr val="F5F6F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165592" y="4544568"/>
            <a:ext cx="91440" cy="91440"/>
          </a:xfrm>
          <a:prstGeom prst="ellipse">
            <a:avLst/>
          </a:prstGeom>
          <a:solidFill>
            <a:srgbClr val="0B1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165592" y="469087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±1.5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8165592" y="516636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pts of wobble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9784080" y="4251960"/>
            <a:ext cx="1691640" cy="1371600"/>
          </a:xfrm>
          <a:prstGeom prst="roundRect">
            <a:avLst>
              <a:gd name="adj" fmla="val 6667"/>
            </a:avLst>
          </a:prstGeom>
          <a:solidFill>
            <a:srgbClr val="F5F6FA"/>
          </a:solidFill>
          <a:ln w="9525">
            <a:solidFill>
              <a:srgbClr val="F5F6F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0040112" y="4544568"/>
            <a:ext cx="91440" cy="91440"/>
          </a:xfrm>
          <a:prstGeom prst="ellipse">
            <a:avLst/>
          </a:prstGeom>
          <a:solidFill>
            <a:srgbClr val="0B1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040112" y="469087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3,790</a:t>
            </a:r>
            <a:endParaRPr lang="en-US" sz="2600" dirty="0"/>
          </a:p>
        </p:txBody>
      </p:sp>
      <p:sp>
        <p:nvSpPr>
          <p:cNvPr id="22" name="Text 19"/>
          <p:cNvSpPr/>
          <p:nvPr/>
        </p:nvSpPr>
        <p:spPr>
          <a:xfrm>
            <a:off x="10040112" y="516636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unseen accounts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85800" y="62910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2–10 are synthetic — bootstrap resamples of the real 1,908-account book. Every row is a real account with a real outcome; the stability claim is sound, the rupee figures on them are not. Do not quote them to RBL as recoveries.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STRESS TEST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2296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0B1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holds on the days that go wrong.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8745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5A6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collections model that only works on good dialling days is worthless — the bad days are exactly when</a:t>
            </a:r>
            <a:endParaRPr lang="en-US" sz="14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5A6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RBL needs to know who to call. So we broke the book on purpose.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85800" y="2834640"/>
            <a:ext cx="5257800" cy="2377440"/>
          </a:xfrm>
          <a:prstGeom prst="roundRect">
            <a:avLst>
              <a:gd name="adj" fmla="val 3846"/>
            </a:avLst>
          </a:prstGeom>
          <a:solidFill>
            <a:srgbClr val="FBEBE9"/>
          </a:solidFill>
          <a:ln w="9525">
            <a:solidFill>
              <a:srgbClr val="F0CBC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306324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— half the book never picked up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34290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94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54.3%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005840" y="3931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rate — the worst day we simulated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520440" y="34290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9E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+23.1 pts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520440" y="39319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still beat the incumbent playbook by more than its own average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05840" y="466344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B1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on that day: 0.741 — above its ten-report mean.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46520" y="2834640"/>
            <a:ext cx="5029200" cy="2377440"/>
          </a:xfrm>
          <a:prstGeom prst="roundRect">
            <a:avLst>
              <a:gd name="adj" fmla="val 3846"/>
            </a:avLst>
          </a:prstGeom>
          <a:solidFill>
            <a:srgbClr val="F5F6FA"/>
          </a:solidFill>
          <a:ln w="9525">
            <a:solidFill>
              <a:srgbClr val="E4E7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0" y="30632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drift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766560" y="3520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worst-connectivity days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052560" y="35204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0.719 accuracy   ·   +20.4 pts edge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766560" y="3977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best-connectivity days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052560" y="3977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0.731 accuracy   ·   +21.3 pts edge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766560" y="452628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5A6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edge barely moves when conditions collapse. That is the difference between a demo and a system.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 WORTH TO THEM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2296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agents. Same dialler.</a:t>
            </a:r>
            <a:endParaRPr lang="en-US" sz="34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Different call order.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9659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8B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RoshRegression does not need RBL to buy anything new. It reorders the list they already work.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85800" y="283464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1C1430"/>
          </a:solidFill>
          <a:ln w="12700">
            <a:solidFill>
              <a:srgbClr val="3A2E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310896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6C5C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2.25×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051560" y="3931920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B9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the top 10% of accounts by score and you capture 22.5% of every rupee that was going to come in — more than twice what working the book at random returns.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537960" y="2834640"/>
            <a:ext cx="4937760" cy="2331720"/>
          </a:xfrm>
          <a:prstGeom prst="roundRect">
            <a:avLst>
              <a:gd name="adj" fmla="val 3922"/>
            </a:avLst>
          </a:prstGeom>
          <a:solidFill>
            <a:srgbClr val="141B33"/>
          </a:solidFill>
          <a:ln w="12700">
            <a:solidFill>
              <a:srgbClr val="2A355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0" y="30632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E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measured book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0" y="34290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₹6.50 Cr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503920" y="346557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E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recovered — 42.8% of the book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858000" y="39776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₹8.69 Cr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503920" y="401421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E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open, and now ranked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858000" y="45262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₹77.95 L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503920" y="456285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E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an agency would have billed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85800" y="54864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9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the ask on the table: let us rank the ₹8.69 Cr you have already written off as hard to reach.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2296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0B1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 how we stop being a vendor.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8745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5A6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dialler is procured. A decision layer is embedded. The difference decides whether RBL is an annual</a:t>
            </a:r>
            <a:endParaRPr lang="en-US" sz="14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5A6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negotiation or an annuity.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85800" y="2743200"/>
            <a:ext cx="2606040" cy="2514600"/>
          </a:xfrm>
          <a:prstGeom prst="roundRect">
            <a:avLst>
              <a:gd name="adj" fmla="val 3636"/>
            </a:avLst>
          </a:prstGeom>
          <a:solidFill>
            <a:srgbClr val="F5F6FA"/>
          </a:solidFill>
          <a:ln w="9525">
            <a:solidFill>
              <a:srgbClr val="E4E7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1832" y="2999232"/>
            <a:ext cx="384048" cy="384048"/>
          </a:xfrm>
          <a:prstGeom prst="ellipse">
            <a:avLst/>
          </a:prstGeom>
          <a:solidFill>
            <a:srgbClr val="5A60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3054096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41832" y="35204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upload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41832" y="388620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book runs through our ingest. Nothing leaves their environment.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29000" y="2743200"/>
            <a:ext cx="2606040" cy="2514600"/>
          </a:xfrm>
          <a:prstGeom prst="roundRect">
            <a:avLst>
              <a:gd name="adj" fmla="val 3636"/>
            </a:avLst>
          </a:prstGeom>
          <a:solidFill>
            <a:srgbClr val="F5F6FA"/>
          </a:solidFill>
          <a:ln w="9525">
            <a:solidFill>
              <a:srgbClr val="E4E7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85032" y="2999232"/>
            <a:ext cx="384048" cy="384048"/>
          </a:xfrm>
          <a:prstGeom prst="ellipse">
            <a:avLst/>
          </a:prstGeom>
          <a:solidFill>
            <a:srgbClr val="6C5C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85032" y="3054096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85032" y="35204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refits on their data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685032" y="388620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learns THIS book — not a generic one. It gets sharper every cycle they feed it.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72200" y="2743200"/>
            <a:ext cx="2606040" cy="2514600"/>
          </a:xfrm>
          <a:prstGeom prst="roundRect">
            <a:avLst>
              <a:gd name="adj" fmla="val 3636"/>
            </a:avLst>
          </a:prstGeom>
          <a:solidFill>
            <a:srgbClr val="F5F6FA"/>
          </a:solidFill>
          <a:ln w="9525">
            <a:solidFill>
              <a:srgbClr val="E4E7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28232" y="2999232"/>
            <a:ext cx="384048" cy="384048"/>
          </a:xfrm>
          <a:prstGeom prst="ellipse">
            <a:avLst/>
          </a:prstGeom>
          <a:solidFill>
            <a:srgbClr val="1E9E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28232" y="3054096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28232" y="35204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floor works our order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28232" y="388620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call list is our output. Their collections rhythm is now built around it.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915400" y="2743200"/>
            <a:ext cx="2606040" cy="2514600"/>
          </a:xfrm>
          <a:prstGeom prst="roundRect">
            <a:avLst>
              <a:gd name="adj" fmla="val 3636"/>
            </a:avLst>
          </a:prstGeom>
          <a:solidFill>
            <a:srgbClr val="F5F6FA"/>
          </a:solidFill>
          <a:ln w="9525">
            <a:solidFill>
              <a:srgbClr val="E4E7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71432" y="2999232"/>
            <a:ext cx="384048" cy="384048"/>
          </a:xfrm>
          <a:prstGeom prst="ellipse">
            <a:avLst/>
          </a:prstGeom>
          <a:solidFill>
            <a:srgbClr val="0B1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71432" y="3054096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71432" y="35204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costs appear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171432" y="388620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Replacing Convin now means replacing how their recovery team decides who to call. That is not a procurement decision any more.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ARE NOT CLAIMING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2296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0B1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weaknesses, from us,</a:t>
            </a:r>
            <a:endParaRPr lang="en-US" sz="34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0B1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RBL finds them.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9202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5A6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in this deck survives scrutiny. These four do not — so we say them first, and stay credible</a:t>
            </a:r>
            <a:endParaRPr lang="en-US" sz="14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5A6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everything else.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85800" y="3017520"/>
            <a:ext cx="118872" cy="118872"/>
          </a:xfrm>
          <a:prstGeom prst="ellipse">
            <a:avLst/>
          </a:prstGeom>
          <a:solidFill>
            <a:srgbClr val="D99A1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8408" y="29260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correlation, not cause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78408" y="3255264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two-minute call identifies someone who will pay. It does not prove that forcing longer calls creates payment — willing payers are also willing talkers. Say "identifies", never "causes".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0" y="3017520"/>
            <a:ext cx="118872" cy="118872"/>
          </a:xfrm>
          <a:prstGeom prst="ellipse">
            <a:avLst/>
          </a:prstGeom>
          <a:solidFill>
            <a:srgbClr val="D99A1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10528" y="29260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only sees this one file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10528" y="3255264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bureau score. No prior-cycle history. No payment behaviour from before today. Which is also the argument for a deeper data agreement.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85800" y="4480560"/>
            <a:ext cx="118872" cy="118872"/>
          </a:xfrm>
          <a:prstGeom prst="ellipse">
            <a:avLst/>
          </a:prstGeom>
          <a:solidFill>
            <a:srgbClr val="D99A1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43891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of the ten reports are synthetic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78408" y="4718304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accounts, real outcomes, resampled. The stability claim holds. The rupee figures on those days do not exist.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17920" y="4480560"/>
            <a:ext cx="118872" cy="118872"/>
          </a:xfrm>
          <a:prstGeom prst="ellipse">
            <a:avLst/>
          </a:prstGeom>
          <a:solidFill>
            <a:srgbClr val="D99A1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10528" y="43891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timid at the threshold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10528" y="4718304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catches only ~42% of the accounts that pay. Its strength is the ranking, not a yes/no verdict. Lead with the call order, never the label.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85800" y="58064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0B1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bank does not buy the vendor with the best numbers. It buys the one it believes.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2296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decisions.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2377440"/>
            <a:ext cx="10789920" cy="1143000"/>
          </a:xfrm>
          <a:prstGeom prst="roundRect">
            <a:avLst>
              <a:gd name="adj" fmla="val 6400"/>
            </a:avLst>
          </a:prstGeom>
          <a:solidFill>
            <a:srgbClr val="141B33"/>
          </a:solidFill>
          <a:ln w="12700">
            <a:solidFill>
              <a:srgbClr val="2A355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788920"/>
            <a:ext cx="347472" cy="347472"/>
          </a:xfrm>
          <a:prstGeom prst="ellipse">
            <a:avLst/>
          </a:prstGeom>
          <a:solidFill>
            <a:srgbClr val="6C5C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83464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54480" y="257860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RoshRegression into the RBL renewal as the headline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54480" y="294436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8E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dialler. Not the minutes. The model, by name, with the promise-to-pay finding as the opener.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3703320"/>
            <a:ext cx="10789920" cy="1143000"/>
          </a:xfrm>
          <a:prstGeom prst="roundRect">
            <a:avLst>
              <a:gd name="adj" fmla="val 6400"/>
            </a:avLst>
          </a:prstGeom>
          <a:solidFill>
            <a:srgbClr val="141B33"/>
          </a:solidFill>
          <a:ln w="12700">
            <a:solidFill>
              <a:srgbClr val="2A355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4114800"/>
            <a:ext cx="347472" cy="347472"/>
          </a:xfrm>
          <a:prstGeom prst="ellipse">
            <a:avLst/>
          </a:prstGeom>
          <a:solidFill>
            <a:srgbClr val="6C5C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416052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554480" y="390448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RBL for bureau and prior-cycle data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54480" y="427024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8E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at 0.75 blind. With payment history it moves materially — and the data ask is itself a deeper contract.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" y="5029200"/>
            <a:ext cx="10789920" cy="1143000"/>
          </a:xfrm>
          <a:prstGeom prst="roundRect">
            <a:avLst>
              <a:gd name="adj" fmla="val 6400"/>
            </a:avLst>
          </a:prstGeom>
          <a:solidFill>
            <a:srgbClr val="141B33"/>
          </a:solidFill>
          <a:ln w="12700">
            <a:solidFill>
              <a:srgbClr val="2A355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5840" y="5440680"/>
            <a:ext cx="347472" cy="347472"/>
          </a:xfrm>
          <a:prstGeom prst="ellipse">
            <a:avLst/>
          </a:prstGeom>
          <a:solidFill>
            <a:srgbClr val="6C5C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548640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554480" y="523036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one validation cycle on live data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554480" y="559612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8E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here is measured, but nine of ten reports are resampled. One real month, and every claim becomes unimpeachable.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" y="589788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RBL is not buying a voice agent from us. They are buying the answer to “who do we call first?” — and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the first time, we are the only ones who have it.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RoshRegression — Convin leadership briefing</dc:title>
  <dc:subject>PptxGenJS Presentation</dc:subject>
  <dc:creator>Convin</dc:creator>
  <cp:lastModifiedBy>Convin</cp:lastModifiedBy>
  <cp:revision>1</cp:revision>
  <dcterms:created xsi:type="dcterms:W3CDTF">2026-07-11T16:50:43Z</dcterms:created>
  <dcterms:modified xsi:type="dcterms:W3CDTF">2026-07-11T16:50:43Z</dcterms:modified>
</cp:coreProperties>
</file>